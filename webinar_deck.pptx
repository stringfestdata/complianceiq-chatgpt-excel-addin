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 thanks for being here.
Over the next 60 minutes, I'm going to show you the ChatGPT add-in for Excel by actually using it. We're going to move quickly because I want you to see real workflows, not slides about workflows.
A few quick housekeeping notes. We'll go demo-heavy for the next hour. I'm going to hold most questions to the end so the demos stay continuous — if something is confusing in the moment, drop it in the chat and I'll pick it up.
By the end of the hour, you will have seen three workflows you can use on Monday morning: writing and fixing Excel formulas with AI, turning a flat variance table into executive commentary, and using AI as a first-pass auditor on messy data.
Let's get into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you'll see in the next hour. Each one maps to a job you probably already do every week.
The first is formulas. Generating them, explaining them, troubleshooting them. This is the gateway use case — the lowest friction way to bring AI into your Excel workflow.
The second is narrative commentary. Most of you can read a variance table just fine. The bottleneck is the writing — turning the numbers into something a CFO will actually read. We'll watch that bottleneck disappear.
The third is exploratory analysis. We're going to point AI at messy expense data and ask it to behave like an auditor. Spoiler — it will find some things and miss others. The point of the demo is to show you exactly how to use it without getting burned.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we'll spend the hour.
Six minutes of framing, four minutes on what the add-in actually is, and then we're in demos for about forty straight minutes. Three demos at roughly twelve to fifteen minutes apiece.
After the demos I'll give you a four-move validation playbook you can use on any AI output — not just the add-in. We close with a quick recap and where to go from here.
If you have to drop off early, the deck and the prompt library are going to be available to download, so you won't miss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reality check before the demos.
Excel is not going anywhere. Anybody telling you AI replaces Excel doesn't talk to enough analysts. Spreadsheets are still the lingua franca of finance, audit, and operations. That's the floor we're building on.
What is changing is the entry point. Until recently, using ChatGPT meant leaving Excel. Copy data out, paste a prompt into a browser, copy the answer back. That round trip is where mistakes happen.
The add-in collapses that loop. The prompt and the data live in the same place. It's faster — less alt-tabbing, fewer paste errors. It's more auditable, because the prompt is part of the workbook instead of a chat tab someone closed yesterday.
The one thing that doesn't change — and I want to drill this in from the start — it's still your job to validate. AI generates. You approve. That model never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quick on what we're looking at. The add-in installs through Insert, then Get Add-ins. You search for ChatGPT, install it, and after that it shows up as a pane on the right side of your Excel window.
The pane has a prompt box at the bottom and a running chat history above it. That's the whole UI.
The most important thing to know — it reads your active selection as context. So if I select a range and then ask a question, the question is being asked about that selection. Selecting carefully is honestly half the prompt-engineering on this tool.
Two flavors of prompt. Some return text in the pane — like a summary, an explanation, a piece of commentary. Some write directly into your cells — like generating a formula and applying it. You'll see both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start clicking, three expectations to set.
First — it sees what you select. So if you select just the headers, it'll summarize the headers. If you select the whole range, it'll summarize the data. Selection matters more than people realize.
Second — it can read or it can write. Read prompts just return text. Write prompts can change your cells. Always read the preview before you click Apply, because once it writes, you're using Ctrl+Z to undo, same as anything else.
Third — and this is the one that catches people off guard — it's not deterministic. Same prompt, slightly different answer each time. If you ran my demos right after me, you'd get something similar but not identical. Build that into how you validate. Don't assume reproducibility.
Alright. Let's stop talking about it and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 — formulas. The gateway use case.
I'm going to show you three moves on a sales transactions file. Generate a new column from scratch. Explain a formula somebody else wrote. Fix a formula I'm going to break on purpose.
If you only remember one thing from Demo 1, remember this — the prompt is shorter than you think. You don't have to write a paragraph. Just describe what you want.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orientation to the file before I switch over to Excel.
It's a sales transactions table. Eighty order-level rows running from January through September of last year. Standard columns — Order ID, date, region, salesperson, product, category, quantity, unit price, discount, revenue.
Revenue at the end isn't a static number — it's a live formula. Quantity times price times one minus the discount. That matters because in beat two I'm going to point at that cell and ask the add-in to explain it to me.
Three beats coming up. Beat one — I generate a new column. Beat two — I have it explain Revenue. Beat three — I break a formula on purpose and let the add-in find what I broke.
Switching to Excel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Coming out of Demo 1 — when does AI actually earn its keep on formulas?
Three patterns. Generate when you know what you want but you don't remember the syntax. SUMIFS with three conditions and an OR — go ahead and ask. You'll get the right answer faster than you'd type it yourself.
Explain when you've inherited a workbook nobody documented. We've all been there. The add-in is a built-in tutor for whoever opens that file next.
Troubleshoot when you have an error you can't see. The move there is to describe the symptom — say "this returns a #VALUE error, what's wrong" — and let it diagnose. Don't tell it what you think is broken. Let it find it.
The one thing I want you to take from this demo — always read the formula before pasting it in. The add-in is a co-pilot. Not an autopilot.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2 — variance commentary. This is the one that changes how people feel about their job.
If you're in FP&amp;A, you know the drill. Numbers close on the third business day, and by the fifth you need a one-pager for the CFO explaining what happened. The numbers are the easy part. The writing is the slow part.
What I'm about to show you compresses that writing from forty-five minutes to forty-five seconds. With a catch — and the catch matters — you still own the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file for this one is a Q1 budget versus actuals table. Forty-five rows — three departments, five accounts each, three months. Sales, Operations, and G&amp;A.
A few things I engineered into this data so the demo has a story. Sales travel is meaningfully over budget all three months. Sales marketing is way under. G&amp;A professional fees spike in January — looks like a legal event. Operations materials creeps over month by month.
Watch what the add-in does with that. Four beats. First I ask for a four-bullet executive summary. Then I drill into one of the lines. Then I have it write a full piece of variance commentary in CFO voice. And then — most important — I ask it to red-team its own output.
Heads up, this demo has the longest single AI response of the session. There may be a few seconds of silence. I'll narrate through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takeaways from Demo 2.
The narrative is the bottleneck. Most analysts can read a variance table. What eats Monday morning is writing the commentary. That's the work AI does well.
The selection is the prompt. AI can only summarize what it can see. Select the full range, not just the header row. This is the number one mistake people make on their first try.
Make it take a position. AI is allergic to taking a position by default. It'll hedge with "it depends" or "context matters." Push it. Say "Take a position. Would you flag this or wait?" You'll get something useful.
And the move I want you to use forever — ask it to red-team itself. "Did you make any specific dollar claims I should double-check before sending this?" Costs you ten seconds. Catches a 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3. The one I'm most careful about — exploratory analysis on messy data.
Why careful? Because this is also where AI can hurt you the most if you're not paying attention. We're going to point it at an expense report with anomalies planted in the data and ask it to act like an auditor.
I'll tell you up front — it's going to catch some and miss others. The whole point of the demo is to show you exactly how to use it for this kind of work without getting burned.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file is a T&amp;E expense report. About one hundred and twenty transactions across four months. Ten employees, six categories — meals, lodging, travel, supplies, software, entertainment — and roughly two dozen merchants.
I've planted several anomalies in there. I'm not going to tell you which ones — that's the whole point. We want to see what the add-in surfaces on its own.
Four beats coming up. First — cast a wide net. I just ask it to behave like an auditor and tell me what it would flag. Second — score it honestly. I'll tell you out loud what it caught and what it missed. Third — targeted follow-up prompts to fill the gaps. Fourth — and this is the validation move — I have it grade its own confidence on each flag.
If you remember nothing else from Demo 3, remember the confidence grading move. That's the one that keeps you out of trouble.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Coming out of Demo 3 — the do's and don'ts.
Do cast a wide net first. Ask the broad question, get the broad answer, then narrow with follow-up prompts. That's the rhythm.
Do ask for confidence labels on every flag. It costs you nothing and it changes how seriously you treat each item.
Don't trust a flag without checking the source rows. The add-in pointed at duplicate Marriott charges in our demo — but it would still be your job to open the rows and verify before that goes into a report.
Don't take a single prompt as the final answer. Run the same question two different ways. If the answers diverge, you've got more work to do.
Big picture — AI on a dataset like this is a smart intern. Useful, fast, occasionally wrong. Treat it accordingly. You're still the auditor of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Four-move validation routine. Use this on every AI output. Not just the add-in — anything AI generates that goes into your work.
Re-prompt. Ask the same question two different ways. If the answers diverge in any material way, neither is trustworthy yet.
Spot-check. Pick one specific number in the output and verify it manually in the spreadsheet. If the model can't be trusted on one, it can't be trusted on the others.
Isolate. Don't accept a wall of analysis at face value. Make it walk you through the calculation for one row. If it can't, that's a signal.
Version. Save the prompt with the output. Future-you, six weeks from now, will want to know what was generated, when, and from what data.
Four words. Re-prompt. Spot-check. Isolate. Version. Tape it to your monitor.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things to walk out with.
One — the add-in is a co-pilot for the work you already do. Not a replacement for it.
Two — three workflows where it actually earns its keep today. Formulas. Narrative commentary. Exploratory passes on messy data.
Three — AI generates, you validate. The judgment is yours. That model never changes.
Four — re-prompt, spot-check, isolate, version. Every output. Every time.
Five — and this is the one I want to leave you with — start small. Pick one weekly task. Replace one step with the add-in. Document the prompt. Then compound from there. The people who'll be the best at this in twelve months are the ones who start one prompt at a time,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next steps in three time horizons.
This week — just install the add-in. Pick the most tedious step in any weekly report you write. Replace it with one prompt. That's it.
This month — start keeping a prompt library. Doesn't need to be fancy. A Notes file with your five best prompts will compound faster than you expect. Also start running the red-team move on every AI output before you send it. Make it a reflex.
This quarter — bring it to your team. Add a "Prompt used" column to your team's review template so the prompts get shared the same way SQL queries get shared. And consider running a session like this one with your team, using your own data instead of mine. That's how this becomes a team capability instead of a personal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for the hour.
If you take one thing from this — let it be the red-team move. Asking the AI to red-team its own output. That single habit pays for the rest.
Materials and the prompt library are downloadable. I'm happy to take a few questions if we have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377440"/>
            <a:ext cx="11064240" cy="1828800"/>
          </a:xfrm>
          <a:prstGeom prst="rect">
            <a:avLst/>
          </a:prstGeom>
          <a:noFill/>
          <a:ln/>
        </p:spPr>
        <p:txBody>
          <a:bodyPr wrap="square" lIns="0" tIns="0" rIns="0" bIns="0" rtlCol="0" anchor="ctr"/>
          <a:lstStyle/>
          <a:p>
            <a:pPr algn="ctr" indent="0" marL="0">
              <a:buNone/>
            </a:pPr>
            <a:r>
              <a:rPr lang="en-US" sz="6000" dirty="0">
                <a:solidFill>
                  <a:srgbClr val="000000"/>
                </a:solidFill>
                <a:latin typeface="Calibri" pitchFamily="34" charset="0"/>
                <a:ea typeface="Calibri" pitchFamily="34" charset="-122"/>
                <a:cs typeface="Calibri" pitchFamily="34" charset="-120"/>
              </a:rPr>
              <a:t>ChatGPT for Excel</a:t>
            </a:r>
            <a:endParaRPr lang="en-US" sz="6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914400"/>
          </a:xfrm>
          <a:prstGeom prst="rect">
            <a:avLst/>
          </a:prstGeom>
          <a:noFill/>
          <a:ln/>
        </p:spPr>
        <p:txBody>
          <a:bodyPr wrap="square" lIns="0" tIns="0" rIns="0" bIns="0" rtlCol="0" anchor="ctr"/>
          <a:lstStyle/>
          <a:p>
            <a:pPr indent="0" marL="0">
              <a:buNone/>
            </a:pPr>
            <a:r>
              <a:rPr lang="en-US" sz="4000" dirty="0">
                <a:solidFill>
                  <a:srgbClr val="000000"/>
                </a:solidFill>
                <a:latin typeface="Calibri" pitchFamily="34" charset="0"/>
                <a:ea typeface="Calibri" pitchFamily="34" charset="-122"/>
                <a:cs typeface="Calibri" pitchFamily="34" charset="-120"/>
              </a:rPr>
              <a:t>Today's promise</a:t>
            </a:r>
            <a:endParaRPr lang="en-US" sz="4000" dirty="0"/>
          </a:p>
        </p:txBody>
      </p:sp>
      <p:sp>
        <p:nvSpPr>
          <p:cNvPr id="3" name="Text 1"/>
          <p:cNvSpPr/>
          <p:nvPr/>
        </p:nvSpPr>
        <p:spPr>
          <a:xfrm>
            <a:off x="548640" y="1554480"/>
            <a:ext cx="11064240" cy="5029200"/>
          </a:xfrm>
          <a:prstGeom prst="rect">
            <a:avLst/>
          </a:prstGeom>
          <a:noFill/>
          <a:ln/>
        </p:spPr>
        <p:txBody>
          <a:bodyPr wrap="square" lIns="0" tIns="0" rIns="0" bIns="0" rtlCol="0" anchor="ctr"/>
          <a:lstStyle/>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How to generate, explain, and fix Excel formulas with AI</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How to turn a flat variance table into executive-ready commentary</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How to use AI as a first-pass auditor on messy data</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914400"/>
          </a:xfrm>
          <a:prstGeom prst="rect">
            <a:avLst/>
          </a:prstGeom>
          <a:noFill/>
          <a:ln/>
        </p:spPr>
        <p:txBody>
          <a:bodyPr wrap="square" lIns="0" tIns="0" rIns="0" bIns="0" rtlCol="0" anchor="ctr"/>
          <a:lstStyle/>
          <a:p>
            <a:pPr indent="0" marL="0">
              <a:buNone/>
            </a:pPr>
            <a:r>
              <a:rPr lang="en-US" sz="4000" dirty="0">
                <a:solidFill>
                  <a:srgbClr val="000000"/>
                </a:solidFill>
                <a:latin typeface="Calibri" pitchFamily="34" charset="0"/>
                <a:ea typeface="Calibri" pitchFamily="34" charset="-122"/>
                <a:cs typeface="Calibri" pitchFamily="34" charset="-120"/>
              </a:rPr>
              <a:t>Agenda</a:t>
            </a:r>
            <a:endParaRPr lang="en-US" sz="4000" dirty="0"/>
          </a:p>
        </p:txBody>
      </p:sp>
      <p:sp>
        <p:nvSpPr>
          <p:cNvPr id="3" name="Text 1"/>
          <p:cNvSpPr/>
          <p:nvPr/>
        </p:nvSpPr>
        <p:spPr>
          <a:xfrm>
            <a:off x="548640" y="1554480"/>
            <a:ext cx="11064240" cy="5029200"/>
          </a:xfrm>
          <a:prstGeom prst="rect">
            <a:avLst/>
          </a:prstGeom>
          <a:noFill/>
          <a:ln/>
        </p:spPr>
        <p:txBody>
          <a:bodyPr wrap="square" lIns="0" tIns="0" rIns="0" bIns="0" rtlCol="0" anchor="ctr"/>
          <a:lstStyle/>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0:00  Welcome &amp; why this matters</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0:06  What the add-in is and how it works</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0:10  Demo 1 — Formulas: generate, explain, fix</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0:25  Demo 2 — Variance analysis and executive commentary</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0:40  Demo 3 — Exploratory analysis on T&amp;E expenses</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0:53  Validation playbook</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0:57  Recap &amp; resources</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914400"/>
          </a:xfrm>
          <a:prstGeom prst="rect">
            <a:avLst/>
          </a:prstGeom>
          <a:noFill/>
          <a:ln/>
        </p:spPr>
        <p:txBody>
          <a:bodyPr wrap="square" lIns="0" tIns="0" rIns="0" bIns="0" rtlCol="0" anchor="ctr"/>
          <a:lstStyle/>
          <a:p>
            <a:pPr indent="0" marL="0">
              <a:buNone/>
            </a:pPr>
            <a:r>
              <a:rPr lang="en-US" sz="4000" dirty="0">
                <a:solidFill>
                  <a:srgbClr val="000000"/>
                </a:solidFill>
                <a:latin typeface="Calibri" pitchFamily="34" charset="0"/>
                <a:ea typeface="Calibri" pitchFamily="34" charset="-122"/>
                <a:cs typeface="Calibri" pitchFamily="34" charset="-120"/>
              </a:rPr>
              <a:t>Why this matters</a:t>
            </a:r>
            <a:endParaRPr lang="en-US" sz="4000" dirty="0"/>
          </a:p>
        </p:txBody>
      </p:sp>
      <p:sp>
        <p:nvSpPr>
          <p:cNvPr id="3" name="Text 1"/>
          <p:cNvSpPr/>
          <p:nvPr/>
        </p:nvSpPr>
        <p:spPr>
          <a:xfrm>
            <a:off x="548640" y="1554480"/>
            <a:ext cx="11064240" cy="5029200"/>
          </a:xfrm>
          <a:prstGeom prst="rect">
            <a:avLst/>
          </a:prstGeom>
          <a:noFill/>
          <a:ln/>
        </p:spPr>
        <p:txBody>
          <a:bodyPr wrap="square" lIns="0" tIns="0" rIns="0" bIns="0" rtlCol="0" anchor="ctr"/>
          <a:lstStyle/>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Excel is still the lingua franca for finance, audit, and operations</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AI used to live in a browser tab — the add-in moves it into the spreadsheet</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Faster: less alt-tabbing, fewer paste errors</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More auditable: prompt and selection live inside the workbook</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Still your job to validate — AI generates, you approve</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914400"/>
          </a:xfrm>
          <a:prstGeom prst="rect">
            <a:avLst/>
          </a:prstGeom>
          <a:noFill/>
          <a:ln/>
        </p:spPr>
        <p:txBody>
          <a:bodyPr wrap="square" lIns="0" tIns="0" rIns="0" bIns="0" rtlCol="0" anchor="ctr"/>
          <a:lstStyle/>
          <a:p>
            <a:pPr indent="0" marL="0">
              <a:buNone/>
            </a:pPr>
            <a:r>
              <a:rPr lang="en-US" sz="4000" dirty="0">
                <a:solidFill>
                  <a:srgbClr val="000000"/>
                </a:solidFill>
                <a:latin typeface="Calibri" pitchFamily="34" charset="0"/>
                <a:ea typeface="Calibri" pitchFamily="34" charset="-122"/>
                <a:cs typeface="Calibri" pitchFamily="34" charset="-120"/>
              </a:rPr>
              <a:t>The add-in, in 60 seconds</a:t>
            </a:r>
            <a:endParaRPr lang="en-US" sz="4000" dirty="0"/>
          </a:p>
        </p:txBody>
      </p:sp>
      <p:sp>
        <p:nvSpPr>
          <p:cNvPr id="3" name="Text 1"/>
          <p:cNvSpPr/>
          <p:nvPr/>
        </p:nvSpPr>
        <p:spPr>
          <a:xfrm>
            <a:off x="548640" y="1554480"/>
            <a:ext cx="11064240" cy="5029200"/>
          </a:xfrm>
          <a:prstGeom prst="rect">
            <a:avLst/>
          </a:prstGeom>
          <a:noFill/>
          <a:ln/>
        </p:spPr>
        <p:txBody>
          <a:bodyPr wrap="square" lIns="0" tIns="0" rIns="0" bIns="0" rtlCol="0" anchor="ctr"/>
          <a:lstStyle/>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Pane on the right side of the Excel window</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Reads your active selection as context</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Prompt box at the bottom, chat history above</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Some prompts return text in the pane</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Some prompts write directly into your cells</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914400"/>
          </a:xfrm>
          <a:prstGeom prst="rect">
            <a:avLst/>
          </a:prstGeom>
          <a:noFill/>
          <a:ln/>
        </p:spPr>
        <p:txBody>
          <a:bodyPr wrap="square" lIns="0" tIns="0" rIns="0" bIns="0" rtlCol="0" anchor="ctr"/>
          <a:lstStyle/>
          <a:p>
            <a:pPr indent="0" marL="0">
              <a:buNone/>
            </a:pPr>
            <a:r>
              <a:rPr lang="en-US" sz="4000" dirty="0">
                <a:solidFill>
                  <a:srgbClr val="000000"/>
                </a:solidFill>
                <a:latin typeface="Calibri" pitchFamily="34" charset="0"/>
                <a:ea typeface="Calibri" pitchFamily="34" charset="-122"/>
                <a:cs typeface="Calibri" pitchFamily="34" charset="-120"/>
              </a:rPr>
              <a:t>Three things to know before we demo</a:t>
            </a:r>
            <a:endParaRPr lang="en-US" sz="4000" dirty="0"/>
          </a:p>
        </p:txBody>
      </p:sp>
      <p:sp>
        <p:nvSpPr>
          <p:cNvPr id="3" name="Text 1"/>
          <p:cNvSpPr/>
          <p:nvPr/>
        </p:nvSpPr>
        <p:spPr>
          <a:xfrm>
            <a:off x="548640" y="1554480"/>
            <a:ext cx="11064240" cy="5029200"/>
          </a:xfrm>
          <a:prstGeom prst="rect">
            <a:avLst/>
          </a:prstGeom>
          <a:noFill/>
          <a:ln/>
        </p:spPr>
        <p:txBody>
          <a:bodyPr wrap="square" lIns="0" tIns="0" rIns="0" bIns="0" rtlCol="0" anchor="ctr"/>
          <a:lstStyle/>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It sees what you select — selecting carefully is half the prompt-engineering</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It can read or write — know which before you click Apply</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It is not deterministic — same prompt, slightly different answer</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377440"/>
            <a:ext cx="11064240" cy="1828800"/>
          </a:xfrm>
          <a:prstGeom prst="rect">
            <a:avLst/>
          </a:prstGeom>
          <a:noFill/>
          <a:ln/>
        </p:spPr>
        <p:txBody>
          <a:bodyPr wrap="square" lIns="0" tIns="0" rIns="0" bIns="0" rtlCol="0" anchor="ctr"/>
          <a:lstStyle/>
          <a:p>
            <a:pPr algn="ctr" indent="0" marL="0">
              <a:buNone/>
            </a:pPr>
            <a:r>
              <a:rPr lang="en-US" sz="6000" dirty="0">
                <a:solidFill>
                  <a:srgbClr val="000000"/>
                </a:solidFill>
                <a:latin typeface="Calibri" pitchFamily="34" charset="0"/>
                <a:ea typeface="Calibri" pitchFamily="34" charset="-122"/>
                <a:cs typeface="Calibri" pitchFamily="34" charset="-120"/>
              </a:rPr>
              <a:t>Demo 1 — Formulas</a:t>
            </a:r>
            <a:endParaRPr lang="en-US" sz="6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914400"/>
          </a:xfrm>
          <a:prstGeom prst="rect">
            <a:avLst/>
          </a:prstGeom>
          <a:noFill/>
          <a:ln/>
        </p:spPr>
        <p:txBody>
          <a:bodyPr wrap="square" lIns="0" tIns="0" rIns="0" bIns="0" rtlCol="0" anchor="ctr"/>
          <a:lstStyle/>
          <a:p>
            <a:pPr indent="0" marL="0">
              <a:buNone/>
            </a:pPr>
            <a:r>
              <a:rPr lang="en-US" sz="4000" dirty="0">
                <a:solidFill>
                  <a:srgbClr val="000000"/>
                </a:solidFill>
                <a:latin typeface="Calibri" pitchFamily="34" charset="0"/>
                <a:ea typeface="Calibri" pitchFamily="34" charset="-122"/>
                <a:cs typeface="Calibri" pitchFamily="34" charset="-120"/>
              </a:rPr>
              <a:t>Demo 1 setup</a:t>
            </a:r>
            <a:endParaRPr lang="en-US" sz="4000" dirty="0"/>
          </a:p>
        </p:txBody>
      </p:sp>
      <p:sp>
        <p:nvSpPr>
          <p:cNvPr id="3" name="Text 1"/>
          <p:cNvSpPr/>
          <p:nvPr/>
        </p:nvSpPr>
        <p:spPr>
          <a:xfrm>
            <a:off x="548640" y="1554480"/>
            <a:ext cx="11064240" cy="5029200"/>
          </a:xfrm>
          <a:prstGeom prst="rect">
            <a:avLst/>
          </a:prstGeom>
          <a:noFill/>
          <a:ln/>
        </p:spPr>
        <p:txBody>
          <a:bodyPr wrap="square" lIns="0" tIns="0" rIns="0" bIns="0" rtlCol="0" anchor="ctr"/>
          <a:lstStyle/>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File: 01_sales_transactions.xlsx</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80 order-level rows, January–September 2025</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Columns: OrderID, Date, Region, Salesperson, Product, Category, Qty, Price, Discount, Revenue</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Revenue is a live formula = Qty × Price × (1 − Discount)</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Three beats: generate a new column, explain an existing formula, fix a broken one</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914400"/>
          </a:xfrm>
          <a:prstGeom prst="rect">
            <a:avLst/>
          </a:prstGeom>
          <a:noFill/>
          <a:ln/>
        </p:spPr>
        <p:txBody>
          <a:bodyPr wrap="square" lIns="0" tIns="0" rIns="0" bIns="0" rtlCol="0" anchor="ctr"/>
          <a:lstStyle/>
          <a:p>
            <a:pPr indent="0" marL="0">
              <a:buNone/>
            </a:pPr>
            <a:r>
              <a:rPr lang="en-US" sz="4000" dirty="0">
                <a:solidFill>
                  <a:srgbClr val="000000"/>
                </a:solidFill>
                <a:latin typeface="Calibri" pitchFamily="34" charset="0"/>
                <a:ea typeface="Calibri" pitchFamily="34" charset="-122"/>
                <a:cs typeface="Calibri" pitchFamily="34" charset="-120"/>
              </a:rPr>
              <a:t>Demo 1 takeaways</a:t>
            </a:r>
            <a:endParaRPr lang="en-US" sz="4000" dirty="0"/>
          </a:p>
        </p:txBody>
      </p:sp>
      <p:sp>
        <p:nvSpPr>
          <p:cNvPr id="3" name="Text 1"/>
          <p:cNvSpPr/>
          <p:nvPr/>
        </p:nvSpPr>
        <p:spPr>
          <a:xfrm>
            <a:off x="548640" y="1554480"/>
            <a:ext cx="11064240" cy="5029200"/>
          </a:xfrm>
          <a:prstGeom prst="rect">
            <a:avLst/>
          </a:prstGeom>
          <a:noFill/>
          <a:ln/>
        </p:spPr>
        <p:txBody>
          <a:bodyPr wrap="square" lIns="0" tIns="0" rIns="0" bIns="0" rtlCol="0" anchor="ctr"/>
          <a:lstStyle/>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Generate when you know what you want but not the syntax</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Explain when you inherit a workbook nobody documented</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Troubleshoot when you have an error you can't spot</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Always read the formula before pasting it in</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The add-in is a co-pilot, not an autopilot</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377440"/>
            <a:ext cx="11064240" cy="1828800"/>
          </a:xfrm>
          <a:prstGeom prst="rect">
            <a:avLst/>
          </a:prstGeom>
          <a:noFill/>
          <a:ln/>
        </p:spPr>
        <p:txBody>
          <a:bodyPr wrap="square" lIns="0" tIns="0" rIns="0" bIns="0" rtlCol="0" anchor="ctr"/>
          <a:lstStyle/>
          <a:p>
            <a:pPr algn="ctr" indent="0" marL="0">
              <a:buNone/>
            </a:pPr>
            <a:r>
              <a:rPr lang="en-US" sz="6000" dirty="0">
                <a:solidFill>
                  <a:srgbClr val="000000"/>
                </a:solidFill>
                <a:latin typeface="Calibri" pitchFamily="34" charset="0"/>
                <a:ea typeface="Calibri" pitchFamily="34" charset="-122"/>
                <a:cs typeface="Calibri" pitchFamily="34" charset="-120"/>
              </a:rPr>
              <a:t>Demo 2 — Variance commentary</a:t>
            </a:r>
            <a:endParaRPr lang="en-US" sz="6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914400"/>
          </a:xfrm>
          <a:prstGeom prst="rect">
            <a:avLst/>
          </a:prstGeom>
          <a:noFill/>
          <a:ln/>
        </p:spPr>
        <p:txBody>
          <a:bodyPr wrap="square" lIns="0" tIns="0" rIns="0" bIns="0" rtlCol="0" anchor="ctr"/>
          <a:lstStyle/>
          <a:p>
            <a:pPr indent="0" marL="0">
              <a:buNone/>
            </a:pPr>
            <a:r>
              <a:rPr lang="en-US" sz="4000" dirty="0">
                <a:solidFill>
                  <a:srgbClr val="000000"/>
                </a:solidFill>
                <a:latin typeface="Calibri" pitchFamily="34" charset="0"/>
                <a:ea typeface="Calibri" pitchFamily="34" charset="-122"/>
                <a:cs typeface="Calibri" pitchFamily="34" charset="-120"/>
              </a:rPr>
              <a:t>Demo 2 setup</a:t>
            </a:r>
            <a:endParaRPr lang="en-US" sz="4000" dirty="0"/>
          </a:p>
        </p:txBody>
      </p:sp>
      <p:sp>
        <p:nvSpPr>
          <p:cNvPr id="3" name="Text 1"/>
          <p:cNvSpPr/>
          <p:nvPr/>
        </p:nvSpPr>
        <p:spPr>
          <a:xfrm>
            <a:off x="548640" y="1554480"/>
            <a:ext cx="11064240" cy="5029200"/>
          </a:xfrm>
          <a:prstGeom prst="rect">
            <a:avLst/>
          </a:prstGeom>
          <a:noFill/>
          <a:ln/>
        </p:spPr>
        <p:txBody>
          <a:bodyPr wrap="square" lIns="0" tIns="0" rIns="0" bIns="0" rtlCol="0" anchor="ctr"/>
          <a:lstStyle/>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File: 02_budget_vs_actuals.xlsx</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45 rows: 3 departments × 5 accounts × 3 months</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Columns: Department, Account, Month, Budget, Actual, Variance, Variance %</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Largest variances: Sales Travel over, Sales Marketing under, G&amp;A Professional Fees spike in January</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Four beats: exec summary, drill-down, full commentary, red-team</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914400"/>
          </a:xfrm>
          <a:prstGeom prst="rect">
            <a:avLst/>
          </a:prstGeom>
          <a:noFill/>
          <a:ln/>
        </p:spPr>
        <p:txBody>
          <a:bodyPr wrap="square" lIns="0" tIns="0" rIns="0" bIns="0" rtlCol="0" anchor="ctr"/>
          <a:lstStyle/>
          <a:p>
            <a:pPr indent="0" marL="0">
              <a:buNone/>
            </a:pPr>
            <a:r>
              <a:rPr lang="en-US" sz="4000" dirty="0">
                <a:solidFill>
                  <a:srgbClr val="000000"/>
                </a:solidFill>
                <a:latin typeface="Calibri" pitchFamily="34" charset="0"/>
                <a:ea typeface="Calibri" pitchFamily="34" charset="-122"/>
                <a:cs typeface="Calibri" pitchFamily="34" charset="-120"/>
              </a:rPr>
              <a:t>Demo 2 takeaways</a:t>
            </a:r>
            <a:endParaRPr lang="en-US" sz="4000" dirty="0"/>
          </a:p>
        </p:txBody>
      </p:sp>
      <p:sp>
        <p:nvSpPr>
          <p:cNvPr id="3" name="Text 1"/>
          <p:cNvSpPr/>
          <p:nvPr/>
        </p:nvSpPr>
        <p:spPr>
          <a:xfrm>
            <a:off x="548640" y="1554480"/>
            <a:ext cx="11064240" cy="5029200"/>
          </a:xfrm>
          <a:prstGeom prst="rect">
            <a:avLst/>
          </a:prstGeom>
          <a:noFill/>
          <a:ln/>
        </p:spPr>
        <p:txBody>
          <a:bodyPr wrap="square" lIns="0" tIns="0" rIns="0" bIns="0" rtlCol="0" anchor="ctr"/>
          <a:lstStyle/>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The narrative is the bottleneck — writing the commentary is what eats Monday morning</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The selection is the prompt — select the full range, not just the header row</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Make it take a position — AI hedges by default, push it</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Ask it to red-team itself — "Any specific dollar claims I should double-check?"</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377440"/>
            <a:ext cx="11064240" cy="1828800"/>
          </a:xfrm>
          <a:prstGeom prst="rect">
            <a:avLst/>
          </a:prstGeom>
          <a:noFill/>
          <a:ln/>
        </p:spPr>
        <p:txBody>
          <a:bodyPr wrap="square" lIns="0" tIns="0" rIns="0" bIns="0" rtlCol="0" anchor="ctr"/>
          <a:lstStyle/>
          <a:p>
            <a:pPr algn="ctr" indent="0" marL="0">
              <a:buNone/>
            </a:pPr>
            <a:r>
              <a:rPr lang="en-US" sz="6000" dirty="0">
                <a:solidFill>
                  <a:srgbClr val="000000"/>
                </a:solidFill>
                <a:latin typeface="Calibri" pitchFamily="34" charset="0"/>
                <a:ea typeface="Calibri" pitchFamily="34" charset="-122"/>
                <a:cs typeface="Calibri" pitchFamily="34" charset="-120"/>
              </a:rPr>
              <a:t>Demo 3 — Exploratory analysis</a:t>
            </a:r>
            <a:endParaRPr lang="en-US" sz="6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914400"/>
          </a:xfrm>
          <a:prstGeom prst="rect">
            <a:avLst/>
          </a:prstGeom>
          <a:noFill/>
          <a:ln/>
        </p:spPr>
        <p:txBody>
          <a:bodyPr wrap="square" lIns="0" tIns="0" rIns="0" bIns="0" rtlCol="0" anchor="ctr"/>
          <a:lstStyle/>
          <a:p>
            <a:pPr indent="0" marL="0">
              <a:buNone/>
            </a:pPr>
            <a:r>
              <a:rPr lang="en-US" sz="4000" dirty="0">
                <a:solidFill>
                  <a:srgbClr val="000000"/>
                </a:solidFill>
                <a:latin typeface="Calibri" pitchFamily="34" charset="0"/>
                <a:ea typeface="Calibri" pitchFamily="34" charset="-122"/>
                <a:cs typeface="Calibri" pitchFamily="34" charset="-120"/>
              </a:rPr>
              <a:t>Demo 3 setup</a:t>
            </a:r>
            <a:endParaRPr lang="en-US" sz="4000" dirty="0"/>
          </a:p>
        </p:txBody>
      </p:sp>
      <p:sp>
        <p:nvSpPr>
          <p:cNvPr id="3" name="Text 1"/>
          <p:cNvSpPr/>
          <p:nvPr/>
        </p:nvSpPr>
        <p:spPr>
          <a:xfrm>
            <a:off x="548640" y="1554480"/>
            <a:ext cx="11064240" cy="5029200"/>
          </a:xfrm>
          <a:prstGeom prst="rect">
            <a:avLst/>
          </a:prstGeom>
          <a:noFill/>
          <a:ln/>
        </p:spPr>
        <p:txBody>
          <a:bodyPr wrap="square" lIns="0" tIns="0" rIns="0" bIns="0" rtlCol="0" anchor="ctr"/>
          <a:lstStyle/>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File: 03_expense_transactions.xlsx</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~120 T&amp;E transactions, January–April 2026</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10 employees, 6 categories, 25+ merchants</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Several anomalies planted — I won't tell you which</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Four beats: cast a wide net, score honestly, targeted follow-ups, validate</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914400"/>
          </a:xfrm>
          <a:prstGeom prst="rect">
            <a:avLst/>
          </a:prstGeom>
          <a:noFill/>
          <a:ln/>
        </p:spPr>
        <p:txBody>
          <a:bodyPr wrap="square" lIns="0" tIns="0" rIns="0" bIns="0" rtlCol="0" anchor="ctr"/>
          <a:lstStyle/>
          <a:p>
            <a:pPr indent="0" marL="0">
              <a:buNone/>
            </a:pPr>
            <a:r>
              <a:rPr lang="en-US" sz="4000" dirty="0">
                <a:solidFill>
                  <a:srgbClr val="000000"/>
                </a:solidFill>
                <a:latin typeface="Calibri" pitchFamily="34" charset="0"/>
                <a:ea typeface="Calibri" pitchFamily="34" charset="-122"/>
                <a:cs typeface="Calibri" pitchFamily="34" charset="-120"/>
              </a:rPr>
              <a:t>Demo 3 takeaways</a:t>
            </a:r>
            <a:endParaRPr lang="en-US" sz="4000" dirty="0"/>
          </a:p>
        </p:txBody>
      </p:sp>
      <p:sp>
        <p:nvSpPr>
          <p:cNvPr id="3" name="Text 1"/>
          <p:cNvSpPr/>
          <p:nvPr/>
        </p:nvSpPr>
        <p:spPr>
          <a:xfrm>
            <a:off x="548640" y="1554480"/>
            <a:ext cx="11064240" cy="5029200"/>
          </a:xfrm>
          <a:prstGeom prst="rect">
            <a:avLst/>
          </a:prstGeom>
          <a:noFill/>
          <a:ln/>
        </p:spPr>
        <p:txBody>
          <a:bodyPr wrap="square" lIns="0" tIns="0" rIns="0" bIns="0" rtlCol="0" anchor="ctr"/>
          <a:lstStyle/>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Do: cast a wide net first, then narrow with targeted prompts</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Do: ask for confidence labels on every flag</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Don't: trust a flag without checking the source rows</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Don't: take a single prompt as the final answer</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AI is a smart intern, not a senior analyst</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You're still the auditor of record</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914400"/>
          </a:xfrm>
          <a:prstGeom prst="rect">
            <a:avLst/>
          </a:prstGeom>
          <a:noFill/>
          <a:ln/>
        </p:spPr>
        <p:txBody>
          <a:bodyPr wrap="square" lIns="0" tIns="0" rIns="0" bIns="0" rtlCol="0" anchor="ctr"/>
          <a:lstStyle/>
          <a:p>
            <a:pPr indent="0" marL="0">
              <a:buNone/>
            </a:pPr>
            <a:r>
              <a:rPr lang="en-US" sz="4000" dirty="0">
                <a:solidFill>
                  <a:srgbClr val="000000"/>
                </a:solidFill>
                <a:latin typeface="Calibri" pitchFamily="34" charset="0"/>
                <a:ea typeface="Calibri" pitchFamily="34" charset="-122"/>
                <a:cs typeface="Calibri" pitchFamily="34" charset="-120"/>
              </a:rPr>
              <a:t>Validation playbook</a:t>
            </a:r>
            <a:endParaRPr lang="en-US" sz="4000" dirty="0"/>
          </a:p>
        </p:txBody>
      </p:sp>
      <p:sp>
        <p:nvSpPr>
          <p:cNvPr id="3" name="Text 1"/>
          <p:cNvSpPr/>
          <p:nvPr/>
        </p:nvSpPr>
        <p:spPr>
          <a:xfrm>
            <a:off x="548640" y="1554480"/>
            <a:ext cx="11064240" cy="5029200"/>
          </a:xfrm>
          <a:prstGeom prst="rect">
            <a:avLst/>
          </a:prstGeom>
          <a:noFill/>
          <a:ln/>
        </p:spPr>
        <p:txBody>
          <a:bodyPr wrap="square" lIns="0" tIns="0" rIns="0" bIns="0" rtlCol="0" anchor="ctr"/>
          <a:lstStyle/>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Re-prompt — ask the same question two different ways</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Spot-check — verify one specific number manually</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Isolate — make it walk you through one row's calculation</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Version — save the prompt with the output</a:t>
            </a:r>
            <a:endParaRPr lang="en-US" sz="2400" dirty="0"/>
          </a:p>
        </p:txBody>
      </p:sp>
      <p:sp>
        <p:nvSpPr>
          <p:cNvPr id="4" name="Text 2"/>
          <p:cNvSpPr/>
          <p:nvPr/>
        </p:nvSpPr>
        <p:spPr>
          <a:xfrm>
            <a:off x="548640" y="6126480"/>
            <a:ext cx="11064240" cy="457200"/>
          </a:xfrm>
          <a:prstGeom prst="rect">
            <a:avLst/>
          </a:prstGeom>
          <a:noFill/>
          <a:ln/>
        </p:spPr>
        <p:txBody>
          <a:bodyPr wrap="square" lIns="0" tIns="0" rIns="0" bIns="0" rtlCol="0" anchor="ctr"/>
          <a:lstStyle/>
          <a:p>
            <a:pPr indent="0" marL="0">
              <a:buNone/>
            </a:pPr>
            <a:r>
              <a:rPr lang="en-US" sz="1800" i="1" dirty="0">
                <a:solidFill>
                  <a:srgbClr val="000000"/>
                </a:solidFill>
                <a:latin typeface="Calibri" pitchFamily="34" charset="0"/>
                <a:ea typeface="Calibri" pitchFamily="34" charset="-122"/>
                <a:cs typeface="Calibri" pitchFamily="34" charset="-120"/>
              </a:rPr>
              <a:t>Re-prompt. Spot-check. Isolate. Version.</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914400"/>
          </a:xfrm>
          <a:prstGeom prst="rect">
            <a:avLst/>
          </a:prstGeom>
          <a:noFill/>
          <a:ln/>
        </p:spPr>
        <p:txBody>
          <a:bodyPr wrap="square" lIns="0" tIns="0" rIns="0" bIns="0" rtlCol="0" anchor="ctr"/>
          <a:lstStyle/>
          <a:p>
            <a:pPr indent="0" marL="0">
              <a:buNone/>
            </a:pPr>
            <a:r>
              <a:rPr lang="en-US" sz="4000" dirty="0">
                <a:solidFill>
                  <a:srgbClr val="000000"/>
                </a:solidFill>
                <a:latin typeface="Calibri" pitchFamily="34" charset="0"/>
                <a:ea typeface="Calibri" pitchFamily="34" charset="-122"/>
                <a:cs typeface="Calibri" pitchFamily="34" charset="-120"/>
              </a:rPr>
              <a:t>Recap</a:t>
            </a:r>
            <a:endParaRPr lang="en-US" sz="4000" dirty="0"/>
          </a:p>
        </p:txBody>
      </p:sp>
      <p:sp>
        <p:nvSpPr>
          <p:cNvPr id="3" name="Text 1"/>
          <p:cNvSpPr/>
          <p:nvPr/>
        </p:nvSpPr>
        <p:spPr>
          <a:xfrm>
            <a:off x="548640" y="1554480"/>
            <a:ext cx="11064240" cy="5029200"/>
          </a:xfrm>
          <a:prstGeom prst="rect">
            <a:avLst/>
          </a:prstGeom>
          <a:noFill/>
          <a:ln/>
        </p:spPr>
        <p:txBody>
          <a:bodyPr wrap="square" lIns="0" tIns="0" rIns="0" bIns="0" rtlCol="0" anchor="ctr"/>
          <a:lstStyle/>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The add-in is a co-pilot — not a replacement for the work</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Three high-ROI workflows: formulas, narrative commentary, exploratory analysis</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AI generates. You validate. The judgment is yours.</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Re-prompt. Spot-check. Isolate. Version. Every output.</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Start small. Replace one step in one weekly task. Compound from there.</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914400"/>
          </a:xfrm>
          <a:prstGeom prst="rect">
            <a:avLst/>
          </a:prstGeom>
          <a:noFill/>
          <a:ln/>
        </p:spPr>
        <p:txBody>
          <a:bodyPr wrap="square" lIns="0" tIns="0" rIns="0" bIns="0" rtlCol="0" anchor="ctr"/>
          <a:lstStyle/>
          <a:p>
            <a:pPr indent="0" marL="0">
              <a:buNone/>
            </a:pPr>
            <a:r>
              <a:rPr lang="en-US" sz="4000" dirty="0">
                <a:solidFill>
                  <a:srgbClr val="000000"/>
                </a:solidFill>
                <a:latin typeface="Calibri" pitchFamily="34" charset="0"/>
                <a:ea typeface="Calibri" pitchFamily="34" charset="-122"/>
                <a:cs typeface="Calibri" pitchFamily="34" charset="-120"/>
              </a:rPr>
              <a:t>Next steps</a:t>
            </a:r>
            <a:endParaRPr lang="en-US" sz="4000" dirty="0"/>
          </a:p>
        </p:txBody>
      </p:sp>
      <p:sp>
        <p:nvSpPr>
          <p:cNvPr id="3" name="Text 1"/>
          <p:cNvSpPr/>
          <p:nvPr/>
        </p:nvSpPr>
        <p:spPr>
          <a:xfrm>
            <a:off x="548640" y="1554480"/>
            <a:ext cx="11064240" cy="5029200"/>
          </a:xfrm>
          <a:prstGeom prst="rect">
            <a:avLst/>
          </a:prstGeom>
          <a:noFill/>
          <a:ln/>
        </p:spPr>
        <p:txBody>
          <a:bodyPr wrap="square" lIns="0" tIns="0" rIns="0" bIns="0" rtlCol="0" anchor="ctr"/>
          <a:lstStyle/>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This week: install the add-in and replace one tedious step with one prompt</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This month: build a personal prompt library of your 5 best prompts</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This month: run the red-team move on every AI output before sending</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This quarter: add a "Prompt used" column to your team's review template</a:t>
            </a:r>
            <a:endParaRPr lang="en-US" sz="2400" dirty="0"/>
          </a:p>
          <a:p>
            <a:pPr marL="342900" indent="-342900">
              <a:spcAft>
                <a:spcPts val="800"/>
              </a:spcAft>
              <a:buSzPct val="100000"/>
              <a:buChar char="•"/>
            </a:pPr>
            <a:r>
              <a:rPr lang="en-US" sz="2400" dirty="0">
                <a:solidFill>
                  <a:srgbClr val="000000"/>
                </a:solidFill>
                <a:latin typeface="Calibri" pitchFamily="34" charset="0"/>
                <a:ea typeface="Calibri" pitchFamily="34" charset="-122"/>
                <a:cs typeface="Calibri" pitchFamily="34" charset="-120"/>
              </a:rPr>
              <a:t>This quarter: run a session like this one with your team using your real data</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377440"/>
            <a:ext cx="11064240" cy="1828800"/>
          </a:xfrm>
          <a:prstGeom prst="rect">
            <a:avLst/>
          </a:prstGeom>
          <a:noFill/>
          <a:ln/>
        </p:spPr>
        <p:txBody>
          <a:bodyPr wrap="square" lIns="0" tIns="0" rIns="0" bIns="0" rtlCol="0" anchor="ctr"/>
          <a:lstStyle/>
          <a:p>
            <a:pPr algn="ctr" indent="0" marL="0">
              <a:buNone/>
            </a:pPr>
            <a:r>
              <a:rPr lang="en-US" sz="6000" dirty="0">
                <a:solidFill>
                  <a:srgbClr val="000000"/>
                </a:solidFill>
                <a:latin typeface="Calibri" pitchFamily="34" charset="0"/>
                <a:ea typeface="Calibri" pitchFamily="34" charset="-122"/>
                <a:cs typeface="Calibri" pitchFamily="34" charset="-120"/>
              </a:rPr>
              <a:t>Thank you</a:t>
            </a:r>
            <a:endParaRPr lang="en-US" sz="6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ChatGPT Add-in for Excel — Webinar</dc:title>
  <dc:subject>PptxGenJS Presentation</dc:subject>
  <dc:creator>Speaker</dc:creator>
  <cp:lastModifiedBy>Speaker</cp:lastModifiedBy>
  <cp:revision>1</cp:revision>
  <dcterms:created xsi:type="dcterms:W3CDTF">2026-05-16T13:31:49Z</dcterms:created>
  <dcterms:modified xsi:type="dcterms:W3CDTF">2026-05-16T13:31:49Z</dcterms:modified>
</cp:coreProperties>
</file>